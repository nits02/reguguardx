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147476543" r:id="rId2"/>
    <p:sldId id="257" r:id="rId3"/>
    <p:sldId id="259" r:id="rId4"/>
    <p:sldId id="260" r:id="rId5"/>
    <p:sldId id="261" r:id="rId6"/>
    <p:sldId id="2147476544" r:id="rId7"/>
    <p:sldId id="2147476545" r:id="rId8"/>
    <p:sldId id="2147476546" r:id="rId9"/>
    <p:sldId id="2147476547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FFFFFF"/>
                </a:solidFill>
                <a:latin typeface="Calibri"/>
              </a:rPr>
              <a:t>Eval scorecard (planted-violation 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DE1C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E1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15-45B5-83F6-8272E7218E12}"/>
              </c:ext>
            </c:extLst>
          </c:dPt>
          <c:dPt>
            <c:idx val="1"/>
            <c:invertIfNegative val="0"/>
            <c:bubble3D val="0"/>
            <c:spPr>
              <a:solidFill>
                <a:srgbClr val="4F86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15-45B5-83F6-8272E7218E12}"/>
              </c:ext>
            </c:extLst>
          </c:dPt>
          <c:dPt>
            <c:idx val="2"/>
            <c:invertIfNegative val="0"/>
            <c:bubble3D val="0"/>
            <c:spPr>
              <a:solidFill>
                <a:srgbClr val="2DE1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15-45B5-83F6-8272E7218E12}"/>
              </c:ext>
            </c:extLst>
          </c:dPt>
          <c:dPt>
            <c:idx val="3"/>
            <c:invertIfNegative val="0"/>
            <c:bubble3D val="0"/>
            <c:spPr>
              <a:solidFill>
                <a:srgbClr val="F5B8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15-45B5-83F6-8272E7218E1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  <c:pt idx="3">
                  <c:v>1 − FPR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</c:v>
                </c:pt>
                <c:pt idx="1">
                  <c:v>0.91</c:v>
                </c:pt>
                <c:pt idx="2">
                  <c:v>0.92</c:v>
                </c:pt>
                <c:pt idx="3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315-45B5-83F6-8272E7218E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B6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5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E4C4-E44B-E2B0-13F0-3A6F8EF5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44548-59E2-E78A-B780-31B74748E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A05AE-CA87-0AF6-9B7D-8D80BAEB5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412B6-31D3-1CDA-3664-5B8EFE32D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BEA8F-BCE7-45CC-B48B-2BF8974037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2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&gt;90% false positives, hours per alert, billions in fines. Rules over-flag, manual can't scale, black-box AI is unacceptable in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overview. Three pillars: multi-agent, decoupled via MCP, governed by design. All on ADK + MCP + Agent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Capabilities grid. Six pillars that together cover the entire Stream 2 rubric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works. Five steps: trigger, extract, assess, review (HITL), dispose. Emphasize local retry / error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Architecture. Walk the main column top-to-bottom (orchestrator to workers to governance gate to MCP to data) then the right column cross-cutting layers. Note L7 is roadmap-only.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Security. Six concentric controls. This is 30% of the score. Tease the two live denials you will show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Human-in-the-loop. Detect, pause+persist, human approves, resume. Cite AML-HITL-06: sanctions never auto-clear.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Reliability. Show the eval scorecard. Say clearly these are from the labeled harness; swap in live numbers. Pair with a Cloud Trace screenshot in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wins. Every rubric criterion has a concrete artifact. Security (30%) is the biggest lever and our strongest showing.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 &amp; ROI. Financial services = EPAM's biggest vertical; mirrors shipped Agentic KYC. ROI = analyst hours + avoided fines.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(future, not built in-window). Capture -&gt; distill -&gt; route -&gt; scale. Student/teacher paradigm for cost and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three-word promise: accurate, scalable, governed. Restate the outcome and hand to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D2E969-F100-6B32-8DFD-11A45E5E4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653" y="4663441"/>
            <a:ext cx="6488010" cy="36920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defRPr sz="1799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B491-F517-CB8D-96B1-B02A50D72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653" y="5245390"/>
            <a:ext cx="648801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>
                <a:effectLst/>
              </a:rPr>
              <a:t>JANUARY 2023</a:t>
            </a:r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30FF820-B532-1296-E817-DF961B6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44" y="1696497"/>
            <a:ext cx="7841779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998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4D4BD-6E7A-841D-F70C-31FAEF56C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288" y="740715"/>
            <a:ext cx="1226538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65227"/>
      </p:ext>
    </p:extLst>
  </p:cSld>
  <p:clrMapOvr>
    <a:masterClrMapping/>
  </p:clrMapOvr>
  <p:transition/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B76D-4573-C932-0A88-5A698F08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D204928-40DC-EBB0-12D8-E65E1B2D46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5" r="9496" b="4795"/>
          <a:stretch/>
        </p:blipFill>
        <p:spPr>
          <a:xfrm>
            <a:off x="0" y="893"/>
            <a:ext cx="12188825" cy="685621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03868D-9BBE-72EE-E1FE-259F9F134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287" y="741415"/>
            <a:ext cx="1226538" cy="450933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B1A3FFBD-7639-ABC2-8699-8DE78FCF60E6}"/>
              </a:ext>
            </a:extLst>
          </p:cNvPr>
          <p:cNvSpPr/>
          <p:nvPr/>
        </p:nvSpPr>
        <p:spPr>
          <a:xfrm>
            <a:off x="411372" y="1350479"/>
            <a:ext cx="9141619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EPAM · STREAM 2</a:t>
            </a:r>
            <a:endParaRPr lang="en-US" sz="1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DC4B1E8B-B22D-A8CB-4718-0633CB777498}"/>
              </a:ext>
            </a:extLst>
          </p:cNvPr>
          <p:cNvSpPr/>
          <p:nvPr/>
        </p:nvSpPr>
        <p:spPr>
          <a:xfrm>
            <a:off x="365664" y="1716144"/>
            <a:ext cx="9598700" cy="173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799"/>
              </a:lnSpc>
            </a:pPr>
            <a:r>
              <a:rPr lang="en-US" sz="4399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ReguGuard</a:t>
            </a:r>
            <a:endParaRPr lang="en-US" sz="4399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977BC95-72BF-2183-9B39-95488A42129E}"/>
              </a:ext>
            </a:extLst>
          </p:cNvPr>
          <p:cNvSpPr/>
          <p:nvPr/>
        </p:nvSpPr>
        <p:spPr>
          <a:xfrm>
            <a:off x="411373" y="3498760"/>
            <a:ext cx="6880382" cy="822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multi-agent swarm on the Google Gemini Enterprise Agent Platform —</a:t>
            </a:r>
            <a:endParaRPr lang="en-US" sz="1500" dirty="0"/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 alerts, screening sanctions, and producing audit-ready dispositions with a human in the loop.</a:t>
            </a:r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819AC-818E-CA18-C02E-4F4C4BC75FFE}"/>
              </a:ext>
            </a:extLst>
          </p:cNvPr>
          <p:cNvSpPr txBox="1"/>
          <p:nvPr/>
        </p:nvSpPr>
        <p:spPr>
          <a:xfrm>
            <a:off x="366038" y="2813139"/>
            <a:ext cx="82563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Autonomous AML &amp; Sanctions-Compliance Analyst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6CD4548-B3DA-A184-F2C7-B1330A43159E}"/>
              </a:ext>
            </a:extLst>
          </p:cNvPr>
          <p:cNvSpPr txBox="1"/>
          <p:nvPr/>
        </p:nvSpPr>
        <p:spPr>
          <a:xfrm>
            <a:off x="366038" y="4698922"/>
            <a:ext cx="818388" cy="3840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61A219E-DC78-2068-50AC-55814B9C1497}"/>
              </a:ext>
            </a:extLst>
          </p:cNvPr>
          <p:cNvSpPr txBox="1"/>
          <p:nvPr/>
        </p:nvSpPr>
        <p:spPr>
          <a:xfrm>
            <a:off x="1385594" y="4698922"/>
            <a:ext cx="818388" cy="3840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2FC6A122-0EAE-B327-42B9-4C2F0B16D1C3}"/>
              </a:ext>
            </a:extLst>
          </p:cNvPr>
          <p:cNvSpPr txBox="1"/>
          <p:nvPr/>
        </p:nvSpPr>
        <p:spPr>
          <a:xfrm>
            <a:off x="2405150" y="4698922"/>
            <a:ext cx="1764792" cy="3840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</a:t>
            </a:r>
            <a:endParaRPr lang="en-US" sz="12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19A7D0D7-F380-F7B8-A6C2-A1A9E4840FAB}"/>
              </a:ext>
            </a:extLst>
          </p:cNvPr>
          <p:cNvSpPr txBox="1"/>
          <p:nvPr/>
        </p:nvSpPr>
        <p:spPr>
          <a:xfrm>
            <a:off x="4371110" y="4698922"/>
            <a:ext cx="1659636" cy="3840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Armor</a:t>
            </a:r>
            <a:endParaRPr lang="en-US" sz="12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E0B7B2E4-E16C-418D-06A8-52D9C1EB4562}"/>
              </a:ext>
            </a:extLst>
          </p:cNvPr>
          <p:cNvSpPr txBox="1"/>
          <p:nvPr/>
        </p:nvSpPr>
        <p:spPr>
          <a:xfrm>
            <a:off x="6231914" y="4698922"/>
            <a:ext cx="1554480" cy="3840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RAG</a:t>
            </a:r>
            <a:endParaRPr lang="en-US" sz="12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48828B99-71AC-36B1-1EBC-BDD71456BC36}"/>
              </a:ext>
            </a:extLst>
          </p:cNvPr>
          <p:cNvSpPr/>
          <p:nvPr/>
        </p:nvSpPr>
        <p:spPr>
          <a:xfrm>
            <a:off x="366038" y="6034361"/>
            <a:ext cx="6880382" cy="822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en-IN" sz="15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NiteshChand Sharma</a:t>
            </a: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en-IN" sz="15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Kumar</a:t>
            </a:r>
          </a:p>
          <a:p>
            <a:pPr marL="342900" indent="-342900">
              <a:lnSpc>
                <a:spcPct val="115000"/>
              </a:lnSpc>
              <a:buAutoNum type="arabicPeriod"/>
            </a:pPr>
            <a:r>
              <a:rPr lang="en-IN" sz="15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Mihir Mohanty</a:t>
            </a:r>
          </a:p>
          <a:p>
            <a:pPr marL="342900" indent="-342900">
              <a:lnSpc>
                <a:spcPct val="115000"/>
              </a:lnSpc>
              <a:buFontTx/>
              <a:buAutoNum type="arabicPeriod"/>
            </a:pPr>
            <a:r>
              <a:rPr lang="en-IN" sz="15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Raghavendra Banda</a:t>
            </a:r>
          </a:p>
          <a:p>
            <a:pPr marL="342900" indent="-342900">
              <a:lnSpc>
                <a:spcPct val="115000"/>
              </a:lnSpc>
              <a:buAutoNum type="arabicPeriod"/>
            </a:pPr>
            <a:endParaRPr lang="en-IN" sz="1500" dirty="0">
              <a:solidFill>
                <a:srgbClr val="A7B6D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buAutoNum type="arabicPeriod"/>
            </a:pPr>
            <a:endParaRPr lang="en-IN" sz="1500" dirty="0">
              <a:solidFill>
                <a:srgbClr val="A7B6D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217136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+mj-lt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>
              <a:latin typeface="+mj-lt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08012" y="711655"/>
            <a:ext cx="10972800" cy="689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+mj-lt"/>
                <a:ea typeface="Century Schoolbook" pitchFamily="34" charset="-122"/>
                <a:cs typeface="Century Schoolbook" pitchFamily="34" charset="-120"/>
              </a:rPr>
              <a:t>Compliance teams are drowning in false alarms</a:t>
            </a:r>
            <a:endParaRPr lang="en-US" sz="3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1436" y="1480619"/>
            <a:ext cx="3538728" cy="1843767"/>
          </a:xfrm>
          <a:prstGeom prst="roundRect">
            <a:avLst>
              <a:gd name="adj" fmla="val 2326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91476" y="1548111"/>
            <a:ext cx="868680" cy="86868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646" y="1765281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8182" y="1685271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6B6B"/>
                </a:solidFill>
                <a:latin typeface="+mj-lt"/>
                <a:ea typeface="Century Schoolbook" pitchFamily="34" charset="-122"/>
                <a:cs typeface="Century Schoolbook" pitchFamily="34" charset="-120"/>
              </a:rPr>
              <a:t>90%+</a:t>
            </a:r>
            <a:endParaRPr lang="en-US" sz="4000" dirty="0">
              <a:latin typeface="+mj-lt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91476" y="234712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of AML alerts are false positives</a:t>
            </a:r>
            <a:endParaRPr lang="en-US" sz="1500" dirty="0">
              <a:latin typeface="+mj-lt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91476" y="2717508"/>
            <a:ext cx="2990088" cy="60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Analysts burn hours clearing noise that was never a real risk.</a:t>
            </a:r>
            <a:endParaRPr lang="en-US" sz="1250" dirty="0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21060" y="1480619"/>
            <a:ext cx="3538728" cy="1843767"/>
          </a:xfrm>
          <a:prstGeom prst="roundRect">
            <a:avLst>
              <a:gd name="adj" fmla="val 2326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41100" y="1548111"/>
            <a:ext cx="868680" cy="86868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270" y="1765281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29236" y="1625943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849"/>
                </a:solidFill>
                <a:latin typeface="+mj-lt"/>
                <a:ea typeface="Century Schoolbook" pitchFamily="34" charset="-122"/>
                <a:cs typeface="Century Schoolbook" pitchFamily="34" charset="-120"/>
              </a:rPr>
              <a:t>Hours</a:t>
            </a:r>
            <a:endParaRPr lang="en-US" sz="4000" dirty="0">
              <a:latin typeface="+mj-lt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741100" y="234712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to investigate a single alert</a:t>
            </a:r>
            <a:endParaRPr lang="en-US" sz="1500" dirty="0">
              <a:latin typeface="+mj-lt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4741100" y="271288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Manual data-gathering across siloed systems is slow and repetitive.</a:t>
            </a:r>
            <a:endParaRPr lang="en-US" sz="1250" dirty="0">
              <a:latin typeface="+mj-lt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70684" y="1480619"/>
            <a:ext cx="3538728" cy="1843767"/>
          </a:xfrm>
          <a:prstGeom prst="roundRect">
            <a:avLst>
              <a:gd name="adj" fmla="val 2326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590724" y="1548111"/>
            <a:ext cx="868680" cy="86868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894" y="1765281"/>
            <a:ext cx="434340" cy="4343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615722" y="161233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F86F7"/>
                </a:solidFill>
                <a:latin typeface="+mj-lt"/>
                <a:ea typeface="Century Schoolbook" pitchFamily="34" charset="-122"/>
                <a:cs typeface="Century Schoolbook" pitchFamily="34" charset="-120"/>
              </a:rPr>
              <a:t>$Billions</a:t>
            </a:r>
            <a:endParaRPr lang="en-US" sz="4000" dirty="0">
              <a:latin typeface="+mj-lt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590724" y="234712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in annual AML penalties</a:t>
            </a:r>
            <a:endParaRPr lang="en-US" sz="1500" dirty="0">
              <a:latin typeface="+mj-lt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8590724" y="2709617"/>
            <a:ext cx="2990088" cy="573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A missed true hit means fines, remediation, and reputational damage.</a:t>
            </a:r>
            <a:endParaRPr lang="en-US" sz="1250" dirty="0">
              <a:latin typeface="+mj-lt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70824C1D-4CE8-DA52-5466-8713FD359C96}"/>
              </a:ext>
            </a:extLst>
          </p:cNvPr>
          <p:cNvSpPr/>
          <p:nvPr/>
        </p:nvSpPr>
        <p:spPr>
          <a:xfrm>
            <a:off x="566928" y="4328432"/>
            <a:ext cx="3538728" cy="2255520"/>
          </a:xfrm>
          <a:prstGeom prst="roundRect">
            <a:avLst>
              <a:gd name="adj" fmla="val 253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D6F37C8E-933C-3248-06A7-61EA5C0D3C41}"/>
              </a:ext>
            </a:extLst>
          </p:cNvPr>
          <p:cNvSpPr/>
          <p:nvPr/>
        </p:nvSpPr>
        <p:spPr>
          <a:xfrm>
            <a:off x="854964" y="4401584"/>
            <a:ext cx="777240" cy="77724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00F65A7F-6285-5B5B-ECB9-195E091CA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74" y="4595894"/>
            <a:ext cx="388620" cy="388620"/>
          </a:xfrm>
          <a:prstGeom prst="rect">
            <a:avLst/>
          </a:prstGeom>
        </p:spPr>
      </p:pic>
      <p:sp>
        <p:nvSpPr>
          <p:cNvPr id="31" name="Text 4">
            <a:extLst>
              <a:ext uri="{FF2B5EF4-FFF2-40B4-BE49-F238E27FC236}">
                <a16:creationId xmlns:a16="http://schemas.microsoft.com/office/drawing/2014/main" id="{2E046796-20C9-EF8E-1FE5-1FD47FE9B4A1}"/>
              </a:ext>
            </a:extLst>
          </p:cNvPr>
          <p:cNvSpPr txBox="1"/>
          <p:nvPr/>
        </p:nvSpPr>
        <p:spPr>
          <a:xfrm>
            <a:off x="1769364" y="4465592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Rules engines</a:t>
            </a:r>
            <a:endParaRPr lang="en-US" sz="1800" dirty="0">
              <a:latin typeface="+mj-lt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E7C612E4-A7ED-3317-6A48-BCAA11A069A1}"/>
              </a:ext>
            </a:extLst>
          </p:cNvPr>
          <p:cNvSpPr txBox="1"/>
          <p:nvPr/>
        </p:nvSpPr>
        <p:spPr>
          <a:xfrm>
            <a:off x="946404" y="5213114"/>
            <a:ext cx="2898648" cy="658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Deterministic but brittle. Thresholds generate a flood of false positives and miss novel patterns.</a:t>
            </a:r>
            <a:endParaRPr lang="en-US" sz="1300" dirty="0">
              <a:latin typeface="+mj-lt"/>
            </a:endParaRP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058AE52B-F629-39BD-A323-E4FC94B48A99}"/>
              </a:ext>
            </a:extLst>
          </p:cNvPr>
          <p:cNvSpPr/>
          <p:nvPr/>
        </p:nvSpPr>
        <p:spPr>
          <a:xfrm>
            <a:off x="946404" y="60155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3A142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BA439F50-8540-EDC8-BED1-11B81F5E6353}"/>
              </a:ext>
            </a:extLst>
          </p:cNvPr>
          <p:cNvSpPr txBox="1"/>
          <p:nvPr/>
        </p:nvSpPr>
        <p:spPr>
          <a:xfrm>
            <a:off x="946404" y="60246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+mj-lt"/>
                <a:ea typeface="Calibri" pitchFamily="34" charset="-122"/>
                <a:cs typeface="Calibri" pitchFamily="34" charset="-120"/>
              </a:rPr>
              <a:t>Fails: accuracy</a:t>
            </a:r>
            <a:endParaRPr lang="en-US" sz="1200" dirty="0">
              <a:latin typeface="+mj-lt"/>
            </a:endParaRPr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D59CAFE9-D6DC-90E9-81EA-7EA4A0C96709}"/>
              </a:ext>
            </a:extLst>
          </p:cNvPr>
          <p:cNvSpPr/>
          <p:nvPr/>
        </p:nvSpPr>
        <p:spPr>
          <a:xfrm>
            <a:off x="4416552" y="4328432"/>
            <a:ext cx="3538728" cy="2255520"/>
          </a:xfrm>
          <a:prstGeom prst="roundRect">
            <a:avLst>
              <a:gd name="adj" fmla="val 253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22FCD61B-7455-3C47-C3BB-F2B5A2F3F37B}"/>
              </a:ext>
            </a:extLst>
          </p:cNvPr>
          <p:cNvSpPr/>
          <p:nvPr/>
        </p:nvSpPr>
        <p:spPr>
          <a:xfrm>
            <a:off x="4704588" y="4401584"/>
            <a:ext cx="777240" cy="77724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43" name="Image 1" descr="preencoded.png">
            <a:extLst>
              <a:ext uri="{FF2B5EF4-FFF2-40B4-BE49-F238E27FC236}">
                <a16:creationId xmlns:a16="http://schemas.microsoft.com/office/drawing/2014/main" id="{ACFA50F5-07EE-5EA9-5BFD-512B543061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8898" y="4595894"/>
            <a:ext cx="388620" cy="388620"/>
          </a:xfrm>
          <a:prstGeom prst="rect">
            <a:avLst/>
          </a:prstGeom>
        </p:spPr>
      </p:pic>
      <p:sp>
        <p:nvSpPr>
          <p:cNvPr id="45" name="Text 10">
            <a:extLst>
              <a:ext uri="{FF2B5EF4-FFF2-40B4-BE49-F238E27FC236}">
                <a16:creationId xmlns:a16="http://schemas.microsoft.com/office/drawing/2014/main" id="{572CEC8B-0982-D86D-4BCE-84CA70F08EDB}"/>
              </a:ext>
            </a:extLst>
          </p:cNvPr>
          <p:cNvSpPr txBox="1"/>
          <p:nvPr/>
        </p:nvSpPr>
        <p:spPr>
          <a:xfrm>
            <a:off x="5618988" y="4465592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Manual analysts</a:t>
            </a:r>
            <a:endParaRPr lang="en-US" sz="1800" dirty="0">
              <a:latin typeface="+mj-lt"/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832485A7-847F-8769-3032-93F8F68E2055}"/>
              </a:ext>
            </a:extLst>
          </p:cNvPr>
          <p:cNvSpPr txBox="1"/>
          <p:nvPr/>
        </p:nvSpPr>
        <p:spPr>
          <a:xfrm>
            <a:off x="4796028" y="5187968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Accurate but unscalable. Skilled investigators spend most of their day gathering data by hand.</a:t>
            </a:r>
            <a:endParaRPr lang="en-US" sz="1300" dirty="0">
              <a:latin typeface="+mj-lt"/>
            </a:endParaRPr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9FEC7FDB-D5CC-EB47-E4E4-891CD02C3BF4}"/>
              </a:ext>
            </a:extLst>
          </p:cNvPr>
          <p:cNvSpPr/>
          <p:nvPr/>
        </p:nvSpPr>
        <p:spPr>
          <a:xfrm>
            <a:off x="4796028" y="60155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3A142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AF92C8BB-95AC-373A-A31D-F415103BF909}"/>
              </a:ext>
            </a:extLst>
          </p:cNvPr>
          <p:cNvSpPr txBox="1"/>
          <p:nvPr/>
        </p:nvSpPr>
        <p:spPr>
          <a:xfrm>
            <a:off x="4796028" y="60246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+mj-lt"/>
                <a:ea typeface="Calibri" pitchFamily="34" charset="-122"/>
                <a:cs typeface="Calibri" pitchFamily="34" charset="-120"/>
              </a:rPr>
              <a:t>Fails: scale</a:t>
            </a:r>
            <a:endParaRPr lang="en-US" sz="1200" dirty="0">
              <a:latin typeface="+mj-lt"/>
            </a:endParaRPr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FA6EB099-4D20-99E3-BC93-FEFB5510CEFC}"/>
              </a:ext>
            </a:extLst>
          </p:cNvPr>
          <p:cNvSpPr/>
          <p:nvPr/>
        </p:nvSpPr>
        <p:spPr>
          <a:xfrm>
            <a:off x="8266176" y="4328432"/>
            <a:ext cx="3538728" cy="2255520"/>
          </a:xfrm>
          <a:prstGeom prst="roundRect">
            <a:avLst>
              <a:gd name="adj" fmla="val 253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D6633F2A-E840-5271-6167-ED9A9741BE66}"/>
              </a:ext>
            </a:extLst>
          </p:cNvPr>
          <p:cNvSpPr/>
          <p:nvPr/>
        </p:nvSpPr>
        <p:spPr>
          <a:xfrm>
            <a:off x="8554212" y="4401584"/>
            <a:ext cx="777240" cy="77724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7570E08B-BFBC-88A2-1750-1054B75AA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8522" y="4595894"/>
            <a:ext cx="388620" cy="388620"/>
          </a:xfrm>
          <a:prstGeom prst="rect">
            <a:avLst/>
          </a:prstGeom>
        </p:spPr>
      </p:pic>
      <p:sp>
        <p:nvSpPr>
          <p:cNvPr id="59" name="Text 16">
            <a:extLst>
              <a:ext uri="{FF2B5EF4-FFF2-40B4-BE49-F238E27FC236}">
                <a16:creationId xmlns:a16="http://schemas.microsoft.com/office/drawing/2014/main" id="{25538872-3075-A188-3674-BDA46934F437}"/>
              </a:ext>
            </a:extLst>
          </p:cNvPr>
          <p:cNvSpPr txBox="1"/>
          <p:nvPr/>
        </p:nvSpPr>
        <p:spPr>
          <a:xfrm>
            <a:off x="9468612" y="4465592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Black-box LLMs</a:t>
            </a:r>
            <a:endParaRPr lang="en-US" sz="1800" dirty="0">
              <a:latin typeface="+mj-lt"/>
            </a:endParaRPr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531DDD75-5E4A-6AB2-8A43-323CCEDADD25}"/>
              </a:ext>
            </a:extLst>
          </p:cNvPr>
          <p:cNvSpPr txBox="1"/>
          <p:nvPr/>
        </p:nvSpPr>
        <p:spPr>
          <a:xfrm>
            <a:off x="8586216" y="5213114"/>
            <a:ext cx="2898648" cy="658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Scalable but ungoverned. Hallucinations, no citations, and no audit trail are unacceptable to regulators.</a:t>
            </a:r>
            <a:endParaRPr lang="en-US" sz="1300" dirty="0">
              <a:latin typeface="+mj-lt"/>
            </a:endParaRPr>
          </a:p>
        </p:txBody>
      </p:sp>
      <p:sp>
        <p:nvSpPr>
          <p:cNvPr id="63" name="Shape 18">
            <a:extLst>
              <a:ext uri="{FF2B5EF4-FFF2-40B4-BE49-F238E27FC236}">
                <a16:creationId xmlns:a16="http://schemas.microsoft.com/office/drawing/2014/main" id="{9774F4EE-E0D4-9518-96EE-CDD170EFD24B}"/>
              </a:ext>
            </a:extLst>
          </p:cNvPr>
          <p:cNvSpPr/>
          <p:nvPr/>
        </p:nvSpPr>
        <p:spPr>
          <a:xfrm>
            <a:off x="8645652" y="60155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3A142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A24D99B7-1703-DBD8-EEFF-C89940A86D31}"/>
              </a:ext>
            </a:extLst>
          </p:cNvPr>
          <p:cNvSpPr txBox="1"/>
          <p:nvPr/>
        </p:nvSpPr>
        <p:spPr>
          <a:xfrm>
            <a:off x="8645652" y="60246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+mj-lt"/>
                <a:ea typeface="Calibri" pitchFamily="34" charset="-122"/>
                <a:cs typeface="Calibri" pitchFamily="34" charset="-120"/>
              </a:rPr>
              <a:t>Fails: trust</a:t>
            </a:r>
            <a:endParaRPr lang="en-US" sz="1200" dirty="0">
              <a:latin typeface="+mj-lt"/>
            </a:endParaRPr>
          </a:p>
        </p:txBody>
      </p:sp>
      <p:sp>
        <p:nvSpPr>
          <p:cNvPr id="67" name="Text 1">
            <a:extLst>
              <a:ext uri="{FF2B5EF4-FFF2-40B4-BE49-F238E27FC236}">
                <a16:creationId xmlns:a16="http://schemas.microsoft.com/office/drawing/2014/main" id="{8BE2614E-C019-A079-A8BA-AD0790D3827C}"/>
              </a:ext>
            </a:extLst>
          </p:cNvPr>
          <p:cNvSpPr txBox="1"/>
          <p:nvPr/>
        </p:nvSpPr>
        <p:spPr>
          <a:xfrm>
            <a:off x="640080" y="3569425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Century Schoolbook" pitchFamily="34" charset="-122"/>
                <a:cs typeface="Century Schoolbook" pitchFamily="34" charset="-120"/>
              </a:rPr>
              <a:t>Every existing approach fails one of three tests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+mj-lt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>
              <a:latin typeface="+mj-lt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Century Schoolbook" pitchFamily="34" charset="-122"/>
                <a:cs typeface="Century Schoolbook" pitchFamily="34" charset="-120"/>
              </a:rPr>
              <a:t>Meet ReguGuard — a governed compliance swarm</a:t>
            </a:r>
            <a:endParaRPr lang="en-US" sz="3200" dirty="0">
              <a:latin typeface="+mj-lt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A team of specialized AI agents that investigates an alert end-to-end: it pulls the data, cross-references policy and sanctions, and returns an audit-ready decision — pausing for a human whenever the stakes are critical.</a:t>
            </a:r>
            <a:endParaRPr lang="en-US" sz="15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0120" y="3035808"/>
            <a:ext cx="822960" cy="82296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32415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97764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E1C2"/>
                </a:solidFill>
                <a:latin typeface="+mj-lt"/>
                <a:ea typeface="Calibri" pitchFamily="34" charset="-122"/>
                <a:cs typeface="Calibri" pitchFamily="34" charset="-120"/>
              </a:rPr>
              <a:t>Multi-agent, not monolithic</a:t>
            </a:r>
            <a:endParaRPr lang="en-US" sz="1600" dirty="0">
              <a:latin typeface="+mj-lt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60120" y="4590288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An orchestrator delegates to data, policy, and synthesis specialists — isolating errors and retrying locally.</a:t>
            </a:r>
            <a:endParaRPr lang="en-US" sz="1250" dirty="0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89704" y="2743200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09744" y="3035808"/>
            <a:ext cx="822960" cy="82296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324154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9744" y="397764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E1C2"/>
                </a:solidFill>
                <a:latin typeface="+mj-lt"/>
                <a:ea typeface="Calibri" pitchFamily="34" charset="-122"/>
                <a:cs typeface="Calibri" pitchFamily="34" charset="-120"/>
              </a:rPr>
              <a:t>Decoupled from any data source</a:t>
            </a:r>
            <a:endParaRPr lang="en-US" sz="1600" dirty="0">
              <a:latin typeface="+mj-lt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809744" y="4590288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Agents reach data only through governed MCP tools. A new legacy system means a new server — zero agent changes.</a:t>
            </a:r>
            <a:endParaRPr lang="en-US" sz="1250" dirty="0">
              <a:latin typeface="+mj-lt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339328" y="2743200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659368" y="3035808"/>
            <a:ext cx="822960" cy="82296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108" y="324154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59368" y="397764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E1C2"/>
                </a:solidFill>
                <a:latin typeface="+mj-lt"/>
                <a:ea typeface="Calibri" pitchFamily="34" charset="-122"/>
                <a:cs typeface="Calibri" pitchFamily="34" charset="-120"/>
              </a:rPr>
              <a:t>Governed by design</a:t>
            </a:r>
            <a:endParaRPr lang="en-US" sz="1600" dirty="0">
              <a:latin typeface="+mj-lt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8659368" y="4590288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Every tool call passes identity, gateway, and Model Armor screening before it runs. Sanctions hits never auto-clear.</a:t>
            </a:r>
            <a:endParaRPr lang="en-US" sz="1250" dirty="0">
              <a:latin typeface="+mj-lt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Built entirely on Google’s Agent Development Kit + Model Context Protocol, deployed to Vertex AI Agent Engine.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+mj-lt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>
              <a:latin typeface="+mj-lt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Century Schoolbook" pitchFamily="34" charset="-122"/>
                <a:cs typeface="Century Schoolbook" pitchFamily="34" charset="-120"/>
              </a:rPr>
              <a:t>One system, the full agentic toolchain</a:t>
            </a:r>
            <a:endParaRPr lang="en-US" sz="32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32688" y="2258568"/>
            <a:ext cx="731520" cy="73152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4414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295144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550" dirty="0">
              <a:latin typeface="+mj-lt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32688" y="306324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ADK-native swarm with A2A interoperability at the boundary.</a:t>
            </a:r>
            <a:endParaRPr lang="en-US" sz="1200" dirty="0">
              <a:latin typeface="+mj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89704" y="196596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82312" y="2258568"/>
            <a:ext cx="731520" cy="73152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4414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32704" y="2295144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Governed data access</a:t>
            </a:r>
            <a:endParaRPr lang="en-US" sz="1550" dirty="0">
              <a:latin typeface="+mj-lt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4782312" y="306324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Custom MCP servers expose narrow, read-only, parameterized tools.</a:t>
            </a:r>
            <a:endParaRPr lang="en-US" sz="1200" dirty="0">
              <a:latin typeface="+mj-lt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339328" y="196596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631936" y="2258568"/>
            <a:ext cx="731520" cy="73152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16" y="24414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82328" y="2295144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Grounded reasoning</a:t>
            </a:r>
            <a:endParaRPr lang="en-US" sz="1550" dirty="0">
              <a:latin typeface="+mj-lt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631936" y="306324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Vertex RAG cites the exact policy rule — no hallucinated verdicts.</a:t>
            </a:r>
            <a:endParaRPr lang="en-US" sz="1200" dirty="0">
              <a:latin typeface="+mj-lt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4005072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32688" y="4297680"/>
            <a:ext cx="731520" cy="73152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480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4334256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550" dirty="0">
              <a:latin typeface="+mj-lt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932688" y="510235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Model Armor + per-tool IAM + mTLS on every call.</a:t>
            </a:r>
            <a:endParaRPr lang="en-US" sz="1200" dirty="0">
              <a:latin typeface="+mj-lt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489704" y="4005072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782312" y="4297680"/>
            <a:ext cx="731520" cy="73152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44805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32704" y="4334256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50" dirty="0">
              <a:latin typeface="+mj-lt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4782312" y="510235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Critical cases pause, persist state, and resume on approval.</a:t>
            </a:r>
            <a:endParaRPr lang="en-US" sz="1200" dirty="0">
              <a:latin typeface="+mj-lt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339328" y="4005072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8631936" y="4297680"/>
            <a:ext cx="731520" cy="73152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4816" y="44805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482328" y="4334256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Proven reliability</a:t>
            </a:r>
            <a:endParaRPr lang="en-US" sz="1550" dirty="0">
              <a:latin typeface="+mj-lt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8631936" y="510235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+mj-lt"/>
                <a:ea typeface="Calibri" pitchFamily="34" charset="-122"/>
                <a:cs typeface="Calibri" pitchFamily="34" charset="-120"/>
              </a:rPr>
              <a:t>Trace-level observability and a precision/recall eval harness.</a:t>
            </a:r>
            <a:endParaRPr lang="en-US" sz="12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alert to audit-ready decision in one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176272" cy="2880360"/>
          </a:xfrm>
          <a:prstGeom prst="roundRect">
            <a:avLst>
              <a:gd name="adj" fmla="val 3782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72184" y="2542032"/>
            <a:ext cx="512064" cy="512064"/>
          </a:xfrm>
          <a:prstGeom prst="ellipse">
            <a:avLst/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472184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62456" y="3218688"/>
            <a:ext cx="731520" cy="73152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340156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0740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or batch arrives; the orchestrator opens a tracked, stateful audit.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25496" y="3703320"/>
            <a:ext cx="118872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953512" y="2286000"/>
            <a:ext cx="2176272" cy="2880360"/>
          </a:xfrm>
          <a:prstGeom prst="roundRect">
            <a:avLst>
              <a:gd name="adj" fmla="val 3782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785616" y="2542032"/>
            <a:ext cx="512064" cy="512064"/>
          </a:xfrm>
          <a:prstGeom prst="ellipse">
            <a:avLst/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3785616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675888" y="3218688"/>
            <a:ext cx="731520" cy="73152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340156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136392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3136392" y="440740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agent pulls the transaction, vendor history, and related transfers via MCP.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138928" y="3703320"/>
            <a:ext cx="118872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266944" y="2286000"/>
            <a:ext cx="2176272" cy="2880360"/>
          </a:xfrm>
          <a:prstGeom prst="roundRect">
            <a:avLst>
              <a:gd name="adj" fmla="val 3782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6099048" y="2542032"/>
            <a:ext cx="512064" cy="512064"/>
          </a:xfrm>
          <a:prstGeom prst="ellipse">
            <a:avLst/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 txBox="1"/>
          <p:nvPr/>
        </p:nvSpPr>
        <p:spPr>
          <a:xfrm>
            <a:off x="6099048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989320" y="3218688"/>
            <a:ext cx="731520" cy="73152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40156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449824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449824" y="440740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agent screens sanctions and grounds every finding in a cited AML rule.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452360" y="3703320"/>
            <a:ext cx="118872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7580376" y="2286000"/>
            <a:ext cx="2176272" cy="2880360"/>
          </a:xfrm>
          <a:prstGeom prst="roundRect">
            <a:avLst>
              <a:gd name="adj" fmla="val 3782"/>
            </a:avLst>
          </a:prstGeom>
          <a:solidFill>
            <a:srgbClr val="1E2C57"/>
          </a:solidFill>
          <a:ln w="12700">
            <a:solidFill>
              <a:srgbClr val="F5B84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8412480" y="2542032"/>
            <a:ext cx="512064" cy="512064"/>
          </a:xfrm>
          <a:prstGeom prst="ellipse">
            <a:avLst/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 txBox="1"/>
          <p:nvPr/>
        </p:nvSpPr>
        <p:spPr>
          <a:xfrm>
            <a:off x="8412480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6"/>
          <p:cNvSpPr/>
          <p:nvPr/>
        </p:nvSpPr>
        <p:spPr>
          <a:xfrm>
            <a:off x="8302752" y="3218688"/>
            <a:ext cx="731520" cy="73152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3401568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763256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7763256" y="440740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or sanctions cases pause for a compliance officer’s sign-off.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765792" y="3703320"/>
            <a:ext cx="118872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9893808" y="2286000"/>
            <a:ext cx="2176272" cy="2880360"/>
          </a:xfrm>
          <a:prstGeom prst="roundRect">
            <a:avLst>
              <a:gd name="adj" fmla="val 3782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10725912" y="2542032"/>
            <a:ext cx="512064" cy="512064"/>
          </a:xfrm>
          <a:prstGeom prst="ellipse">
            <a:avLst/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 txBox="1"/>
          <p:nvPr/>
        </p:nvSpPr>
        <p:spPr>
          <a:xfrm>
            <a:off x="10725912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Shape 33"/>
          <p:cNvSpPr/>
          <p:nvPr/>
        </p:nvSpPr>
        <p:spPr>
          <a:xfrm>
            <a:off x="10616184" y="3218688"/>
            <a:ext cx="731520" cy="73152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9064" y="3401568"/>
            <a:ext cx="365760" cy="36576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0076688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10076688" y="440740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synthesis agent emits an escalate / clear / request-info decision with evidence.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isolated: a failed step retries locally — the whole audit never restarts.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580403-CE96-C061-6A5E-F4A6E33FFCD3}"/>
              </a:ext>
            </a:extLst>
          </p:cNvPr>
          <p:cNvSpPr/>
          <p:nvPr/>
        </p:nvSpPr>
        <p:spPr>
          <a:xfrm>
            <a:off x="0" y="0"/>
            <a:ext cx="12188825" cy="368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Demo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AAFE6-7E62-4550-0790-9D50CBD16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91515"/>
            <a:ext cx="12238257" cy="569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1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D04F74-D9B1-B195-F858-8B8D60B90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866"/>
            <a:ext cx="12197218" cy="568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3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F57566-EB91-2EC2-5612-6B0926852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26146"/>
            <a:ext cx="12175401" cy="56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44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CA144A-2E6E-A699-17CE-6CE372865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06360"/>
            <a:ext cx="12188826" cy="588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61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Seven governed layers, one execution graph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160020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329184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Alert Trigger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2240280"/>
            <a:ext cx="2926080" cy="566928"/>
          </a:xfrm>
          <a:prstGeom prst="roundRect">
            <a:avLst>
              <a:gd name="adj" fmla="val 14516"/>
            </a:avLst>
          </a:prstGeom>
          <a:solidFill>
            <a:srgbClr val="18244A"/>
          </a:solidFill>
          <a:ln w="22225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3500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11880" y="2240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Orchestrator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13248" y="2286000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2DE1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413248" y="228142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2468880" cy="658368"/>
          </a:xfrm>
          <a:prstGeom prst="roundRect">
            <a:avLst>
              <a:gd name="adj" fmla="val 12500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23697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5840" y="3063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480560" y="2825496"/>
            <a:ext cx="0" cy="219456"/>
          </a:xfrm>
          <a:prstGeom prst="line">
            <a:avLst/>
          </a:prstGeom>
          <a:noFill/>
          <a:ln w="15875">
            <a:solidFill>
              <a:srgbClr val="2C3C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246120" y="3063240"/>
            <a:ext cx="2468880" cy="658368"/>
          </a:xfrm>
          <a:prstGeom prst="roundRect">
            <a:avLst>
              <a:gd name="adj" fmla="val 12500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23697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94760" y="3063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Assessment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480560" y="2825496"/>
            <a:ext cx="0" cy="219456"/>
          </a:xfrm>
          <a:prstGeom prst="line">
            <a:avLst/>
          </a:prstGeom>
          <a:noFill/>
          <a:ln w="15875">
            <a:solidFill>
              <a:srgbClr val="2C3C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035040" y="3063240"/>
            <a:ext cx="2468880" cy="658368"/>
          </a:xfrm>
          <a:prstGeom prst="roundRect">
            <a:avLst>
              <a:gd name="adj" fmla="val 12500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23697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3680" y="3063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480560" y="2825496"/>
            <a:ext cx="2788920" cy="219456"/>
          </a:xfrm>
          <a:prstGeom prst="line">
            <a:avLst/>
          </a:prstGeom>
          <a:noFill/>
          <a:ln w="15875">
            <a:solidFill>
              <a:srgbClr val="2C3C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457200" y="3977640"/>
            <a:ext cx="7818120" cy="566928"/>
          </a:xfrm>
          <a:prstGeom prst="roundRect">
            <a:avLst>
              <a:gd name="adj" fmla="val 14516"/>
            </a:avLst>
          </a:prstGeom>
          <a:solidFill>
            <a:srgbClr val="17233F"/>
          </a:solidFill>
          <a:ln w="19050">
            <a:solidFill>
              <a:srgbClr val="F5B8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087368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43000" y="39776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   ·   Agent Identity + mTLS   ·   Agent Gateway (per-tool IAM)   ·   Model Armor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744968" y="4023360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2DE1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 txBox="1"/>
          <p:nvPr/>
        </p:nvSpPr>
        <p:spPr>
          <a:xfrm>
            <a:off x="7744968" y="401878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480560" y="3739896"/>
            <a:ext cx="0" cy="219456"/>
          </a:xfrm>
          <a:prstGeom prst="line">
            <a:avLst/>
          </a:prstGeom>
          <a:noFill/>
          <a:ln w="22225">
            <a:solidFill>
              <a:srgbClr val="F5B84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457200" y="4800600"/>
            <a:ext cx="3794760" cy="548640"/>
          </a:xfrm>
          <a:prstGeom prst="roundRect">
            <a:avLst>
              <a:gd name="adj" fmla="val 15000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492861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87552" y="4800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MCP  (Cloud Run)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2354580" y="4562856"/>
            <a:ext cx="0" cy="219456"/>
          </a:xfrm>
          <a:prstGeom prst="line">
            <a:avLst/>
          </a:prstGeom>
          <a:noFill/>
          <a:ln w="1905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4480560" y="4800600"/>
            <a:ext cx="3794760" cy="548640"/>
          </a:xfrm>
          <a:prstGeom prst="roundRect">
            <a:avLst>
              <a:gd name="adj" fmla="val 15000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64" y="4928616"/>
            <a:ext cx="292608" cy="29260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010912" y="4800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MCP  (Cloud Run)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377940" y="4562856"/>
            <a:ext cx="0" cy="219456"/>
          </a:xfrm>
          <a:prstGeom prst="line">
            <a:avLst/>
          </a:prstGeom>
          <a:noFill/>
          <a:ln w="1905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8"/>
          <p:cNvSpPr/>
          <p:nvPr/>
        </p:nvSpPr>
        <p:spPr>
          <a:xfrm>
            <a:off x="7744968" y="4828032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2DE1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29"/>
          <p:cNvSpPr txBox="1"/>
          <p:nvPr/>
        </p:nvSpPr>
        <p:spPr>
          <a:xfrm>
            <a:off x="7744968" y="48234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57200" y="5623560"/>
            <a:ext cx="3794760" cy="475488"/>
          </a:xfrm>
          <a:prstGeom prst="roundRect">
            <a:avLst>
              <a:gd name="adj" fmla="val 17308"/>
            </a:avLst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 txBox="1"/>
          <p:nvPr/>
        </p:nvSpPr>
        <p:spPr>
          <a:xfrm>
            <a:off x="457200" y="56235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— Transactions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2354580" y="5367528"/>
            <a:ext cx="0" cy="237744"/>
          </a:xfrm>
          <a:prstGeom prst="line">
            <a:avLst/>
          </a:prstGeom>
          <a:noFill/>
          <a:ln w="15875">
            <a:solidFill>
              <a:srgbClr val="2C3C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4480560" y="5623560"/>
            <a:ext cx="3794760" cy="475488"/>
          </a:xfrm>
          <a:prstGeom prst="roundRect">
            <a:avLst>
              <a:gd name="adj" fmla="val 17308"/>
            </a:avLst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 txBox="1"/>
          <p:nvPr/>
        </p:nvSpPr>
        <p:spPr>
          <a:xfrm>
            <a:off x="4480560" y="56235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/ Watchlist Store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6377940" y="5367528"/>
            <a:ext cx="0" cy="237744"/>
          </a:xfrm>
          <a:prstGeom prst="line">
            <a:avLst/>
          </a:prstGeom>
          <a:noFill/>
          <a:ln w="15875">
            <a:solidFill>
              <a:srgbClr val="2C3C6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6"/>
          <p:cNvSpPr/>
          <p:nvPr/>
        </p:nvSpPr>
        <p:spPr>
          <a:xfrm>
            <a:off x="8641080" y="2240280"/>
            <a:ext cx="3090672" cy="1097280"/>
          </a:xfrm>
          <a:prstGeom prst="roundRect">
            <a:avLst>
              <a:gd name="adj" fmla="val 7500"/>
            </a:avLst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37"/>
          <p:cNvSpPr/>
          <p:nvPr/>
        </p:nvSpPr>
        <p:spPr>
          <a:xfrm>
            <a:off x="8842248" y="2459736"/>
            <a:ext cx="658368" cy="658368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2624328"/>
            <a:ext cx="329184" cy="329184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9601200" y="24231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49" name="Text 39"/>
          <p:cNvSpPr txBox="1"/>
          <p:nvPr/>
        </p:nvSpPr>
        <p:spPr>
          <a:xfrm>
            <a:off x="9601200" y="2788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RAG grounding + context caching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11164824" y="235000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2DE1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1"/>
          <p:cNvSpPr txBox="1"/>
          <p:nvPr/>
        </p:nvSpPr>
        <p:spPr>
          <a:xfrm>
            <a:off x="11164824" y="234543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641080" y="3520440"/>
            <a:ext cx="3090672" cy="1097280"/>
          </a:xfrm>
          <a:prstGeom prst="roundRect">
            <a:avLst>
              <a:gd name="adj" fmla="val 7500"/>
            </a:avLst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43"/>
          <p:cNvSpPr/>
          <p:nvPr/>
        </p:nvSpPr>
        <p:spPr>
          <a:xfrm>
            <a:off x="8842248" y="3739896"/>
            <a:ext cx="658368" cy="658368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6840" y="3904488"/>
            <a:ext cx="329184" cy="329184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9601200" y="37033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HITL</a:t>
            </a:r>
            <a:endParaRPr lang="en-US" sz="1400" dirty="0"/>
          </a:p>
        </p:txBody>
      </p:sp>
      <p:sp>
        <p:nvSpPr>
          <p:cNvPr id="56" name="Text 45"/>
          <p:cNvSpPr txBox="1"/>
          <p:nvPr/>
        </p:nvSpPr>
        <p:spPr>
          <a:xfrm>
            <a:off x="9601200" y="40690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+ Memory Bank, pause / resume</a:t>
            </a:r>
            <a:endParaRPr lang="en-US" sz="1050" dirty="0"/>
          </a:p>
        </p:txBody>
      </p:sp>
      <p:sp>
        <p:nvSpPr>
          <p:cNvPr id="57" name="Shape 46"/>
          <p:cNvSpPr/>
          <p:nvPr/>
        </p:nvSpPr>
        <p:spPr>
          <a:xfrm>
            <a:off x="11164824" y="36301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2DE1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47"/>
          <p:cNvSpPr txBox="1"/>
          <p:nvPr/>
        </p:nvSpPr>
        <p:spPr>
          <a:xfrm>
            <a:off x="11164824" y="36255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00" dirty="0"/>
          </a:p>
        </p:txBody>
      </p:sp>
      <p:sp>
        <p:nvSpPr>
          <p:cNvPr id="59" name="Shape 48"/>
          <p:cNvSpPr/>
          <p:nvPr/>
        </p:nvSpPr>
        <p:spPr>
          <a:xfrm>
            <a:off x="8641080" y="4800600"/>
            <a:ext cx="3090672" cy="1097280"/>
          </a:xfrm>
          <a:prstGeom prst="roundRect">
            <a:avLst>
              <a:gd name="adj" fmla="val 7500"/>
            </a:avLst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49"/>
          <p:cNvSpPr/>
          <p:nvPr/>
        </p:nvSpPr>
        <p:spPr>
          <a:xfrm>
            <a:off x="8842248" y="5020056"/>
            <a:ext cx="658368" cy="658368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6840" y="5184648"/>
            <a:ext cx="329184" cy="329184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9601200" y="4983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Eval</a:t>
            </a:r>
            <a:endParaRPr lang="en-US" sz="1400" dirty="0"/>
          </a:p>
        </p:txBody>
      </p:sp>
      <p:sp>
        <p:nvSpPr>
          <p:cNvPr id="63" name="Text 51"/>
          <p:cNvSpPr txBox="1"/>
          <p:nvPr/>
        </p:nvSpPr>
        <p:spPr>
          <a:xfrm>
            <a:off x="9601200" y="5349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Trace + precision / recall harness</a:t>
            </a:r>
            <a:endParaRPr lang="en-US" sz="1050" dirty="0"/>
          </a:p>
        </p:txBody>
      </p:sp>
      <p:sp>
        <p:nvSpPr>
          <p:cNvPr id="64" name="Shape 52"/>
          <p:cNvSpPr/>
          <p:nvPr/>
        </p:nvSpPr>
        <p:spPr>
          <a:xfrm>
            <a:off x="11164824" y="491032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2DE1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53"/>
          <p:cNvSpPr txBox="1"/>
          <p:nvPr/>
        </p:nvSpPr>
        <p:spPr>
          <a:xfrm>
            <a:off x="11164824" y="49057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000" dirty="0"/>
          </a:p>
        </p:txBody>
      </p:sp>
      <p:sp>
        <p:nvSpPr>
          <p:cNvPr id="66" name="Text 54"/>
          <p:cNvSpPr txBox="1"/>
          <p:nvPr/>
        </p:nvSpPr>
        <p:spPr>
          <a:xfrm>
            <a:off x="8641080" y="6035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· Roadmap: distill routine checks into a fine-tuned lightweight model (future).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Defense-in-depth: security is a platform property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at 30% of the score — and where most teams have nothing to show. Every tool call runs this gauntlet.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658368" cy="658368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7706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6243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31927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Armor (WAF/DDoS) + Identity-Aware Proxy on ingress.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9704" y="23317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64024" y="2606040"/>
            <a:ext cx="658368" cy="658368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7706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41264" y="26243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64024" y="331927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service accounts with end-to-end mutual TLS.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39328" y="23317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613648" y="2606040"/>
            <a:ext cx="658368" cy="658368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7706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90888" y="26243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613648" y="331927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Gateway enforces per-tool IAM — least privilege.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1605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14400" y="4434840"/>
            <a:ext cx="658368" cy="658368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459943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1640" y="44531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" y="514807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Armor screens every payload for injection &amp; data-loss.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89704" y="41605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764024" y="4434840"/>
            <a:ext cx="658368" cy="658368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459943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541264" y="44531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764024" y="514807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validates its own schema; read-only parameterized queries.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339328" y="41605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8613648" y="4434840"/>
            <a:ext cx="658368" cy="658368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599432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390888" y="44531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613648" y="5148072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every denial is traced and logged.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an unauthorized tool call returns 403; a prompt-injection payload is denied by Model Armor — both visible in the logs.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human decides when the stakes are critical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Long-running, interruptible audits. When the swarm detects a sanctions hit or a critical risk score, it stops — by policy.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51760" cy="2423160"/>
          </a:xfrm>
          <a:prstGeom prst="roundRect">
            <a:avLst>
              <a:gd name="adj" fmla="val 3396"/>
            </a:avLst>
          </a:prstGeom>
          <a:solidFill>
            <a:srgbClr val="18244A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81912" y="2898648"/>
            <a:ext cx="768096" cy="768096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30906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776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336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violation or sanctions hit identified.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6412" y="3813048"/>
            <a:ext cx="246888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47872" y="2606040"/>
            <a:ext cx="2651760" cy="2423160"/>
          </a:xfrm>
          <a:prstGeom prst="roundRect">
            <a:avLst>
              <a:gd name="adj" fmla="val 3396"/>
            </a:avLst>
          </a:prstGeom>
          <a:solidFill>
            <a:srgbClr val="18244A"/>
          </a:solidFill>
          <a:ln w="12700">
            <a:solidFill>
              <a:srgbClr val="F5B84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489704" y="2898648"/>
            <a:ext cx="768096" cy="768096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0906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30752" y="3776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persist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776472" y="42336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session state snapshotted to Memory Bank.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04204" y="3813048"/>
            <a:ext cx="246888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455664" y="2606040"/>
            <a:ext cx="2651760" cy="2423160"/>
          </a:xfrm>
          <a:prstGeom prst="roundRect">
            <a:avLst>
              <a:gd name="adj" fmla="val 3396"/>
            </a:avLst>
          </a:prstGeom>
          <a:solidFill>
            <a:srgbClr val="18244A"/>
          </a:solidFill>
          <a:ln w="12700">
            <a:solidFill>
              <a:srgbClr val="4F86F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397496" y="2898648"/>
            <a:ext cx="768096" cy="768096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09067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38544" y="3776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684264" y="42336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 signs off asynchronously.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11996" y="3813048"/>
            <a:ext cx="246888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363456" y="2606040"/>
            <a:ext cx="2651760" cy="2423160"/>
          </a:xfrm>
          <a:prstGeom prst="roundRect">
            <a:avLst>
              <a:gd name="adj" fmla="val 3396"/>
            </a:avLst>
          </a:prstGeom>
          <a:solidFill>
            <a:srgbClr val="18244A"/>
          </a:solidFill>
          <a:ln w="12700">
            <a:solidFill>
              <a:srgbClr val="2DE1C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0305288" y="2898648"/>
            <a:ext cx="768096" cy="768096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309067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546336" y="3776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592056" y="42336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resume; final disposition recorded.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Policy rule AML-HITL-06: sanctions hits can never auto-clear — the workflow is stateful, auditable, and reversible.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ADJECTIVES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Reliability we can measure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labeled eval set of synthetic transactions with deliberately planted violations lets us score the swarm deterministically — the numbers below come straight from the eval harness.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5577840" cy="841248"/>
          </a:xfrm>
          <a:prstGeom prst="roundRect">
            <a:avLst>
              <a:gd name="adj" fmla="val 978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10896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0.94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4059936"/>
            <a:ext cx="5577840" cy="841248"/>
          </a:xfrm>
          <a:prstGeom prst="roundRect">
            <a:avLst>
              <a:gd name="adj" fmla="val 978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68680" y="405993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4059936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F86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40080" y="5010912"/>
            <a:ext cx="5577840" cy="841248"/>
          </a:xfrm>
          <a:prstGeom prst="roundRect">
            <a:avLst>
              <a:gd name="adj" fmla="val 978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68680" y="50109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5010912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B84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0.06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80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targets from the harness — replace with your live run before the pitch.</a:t>
            </a:r>
            <a:endParaRPr lang="en-US" sz="9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537960" y="1828800"/>
          <a:ext cx="51663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JUDGES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Engineered against the rubric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258568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22585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1854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Security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624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Model Armor + IAM + Cloud Run + token optimization + traces.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196596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75120" y="2258568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675120" y="22585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1854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Use Case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624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critical, quantified AML problem in EPAM’s largest vertical.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68680" y="3721608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68680" y="372160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15%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36484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Extensibility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087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swarm + MCP decoupling + A2A boundary on Agent Engine.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4290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75120" y="3721608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675120" y="372160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6484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Reliability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4087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grounding, human-in-the-loop, measurable precision/recall.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48920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11880" y="5184648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0F1838"/>
          </a:solidFill>
          <a:ln w="1905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611880" y="518464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15%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51114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Certification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5550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the team on the Gemini Enterprise certification path.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ROI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for EPAM’s biggest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4460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3042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fit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10128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is EPAM’s largest, fastest-growing vertical.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7705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813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EPAM’s shipped Agentic KYC agent on Gemini Enterprise.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4398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43799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marketplace-ready accelerator — not a throwaway demo.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1091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4946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EPAM’s AI-native GTM (DIAL, AI/RUN, ELITEA).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355080" y="1965960"/>
            <a:ext cx="5193792" cy="3703320"/>
          </a:xfrm>
          <a:prstGeom prst="roundRect">
            <a:avLst>
              <a:gd name="adj" fmla="val 2222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0"/>
          <p:cNvSpPr/>
          <p:nvPr/>
        </p:nvSpPr>
        <p:spPr>
          <a:xfrm>
            <a:off x="6629400" y="2240280"/>
            <a:ext cx="822960" cy="822960"/>
          </a:xfrm>
          <a:prstGeom prst="ellipse">
            <a:avLst/>
          </a:prstGeom>
          <a:solidFill>
            <a:srgbClr val="0F1838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140" y="2446020"/>
            <a:ext cx="411480" cy="4114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589520" y="2304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 story</a:t>
            </a:r>
            <a:endParaRPr lang="en-US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6629400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hours reclaimed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66294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alerts  ×  minutes saved per alert  ×  loaded analyst cost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662940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avoided regulatory-fine exposure from fewer missed true positives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629400" y="461772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0F1838"/>
          </a:solidFill>
          <a:ln w="12700">
            <a:solidFill>
              <a:srgbClr val="2DE1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6"/>
          <p:cNvSpPr txBox="1"/>
          <p:nvPr/>
        </p:nvSpPr>
        <p:spPr>
          <a:xfrm>
            <a:off x="6812280" y="4617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false-positive triage time while never auto-clearing a real hit — lower cost and lower risk at the same time.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swarm to a self-optimizing asset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agents generate a stream of high-quality reasoning traces. That data becomes tomorrow’s cost advantage.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81912" y="2788920"/>
            <a:ext cx="768096" cy="768096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29809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42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successful reasoning paths and input/output pairs from live audits.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6412" y="3749040"/>
            <a:ext cx="246888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47872" y="251460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489704" y="2788920"/>
            <a:ext cx="768096" cy="768096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98094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30752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776472" y="4142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PEFT / LoRA to fine-tune a lightweight Flash or Gemma "student" model.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04204" y="3749040"/>
            <a:ext cx="246888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455664" y="251460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397496" y="2788920"/>
            <a:ext cx="768096" cy="768096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980944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38544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684264" y="4142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routine, high-volume checks to the cheaper, faster student model.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11996" y="3749040"/>
            <a:ext cx="246888" cy="0"/>
          </a:xfrm>
          <a:prstGeom prst="line">
            <a:avLst/>
          </a:prstGeom>
          <a:noFill/>
          <a:ln w="25400">
            <a:solidFill>
              <a:srgbClr val="2DE1C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363456" y="251460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18244A"/>
          </a:solidFill>
          <a:ln w="12700">
            <a:solidFill>
              <a:srgbClr val="2C3C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0305288" y="2788920"/>
            <a:ext cx="768096" cy="768096"/>
          </a:xfrm>
          <a:prstGeom prst="ellipse">
            <a:avLst/>
          </a:prstGeom>
          <a:solidFill>
            <a:srgbClr val="0C1330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2980944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546336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592056" y="4142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reserved for complex cases — cost and latency drop sharply.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E1C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Drastic cost reduction  ·  lower inference latency  ·  a proprietary asset insulated from external API pricing.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503920" y="109728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874520"/>
            <a:ext cx="914400" cy="914400"/>
          </a:xfrm>
          <a:prstGeom prst="ellipse">
            <a:avLst/>
          </a:prstGeom>
          <a:solidFill>
            <a:srgbClr val="1E2C57"/>
          </a:solidFill>
          <a:ln w="12700">
            <a:solidFill>
              <a:srgbClr val="2C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03120"/>
            <a:ext cx="457200" cy="457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58368" y="4937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Accurate. Scalable. Governed.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658368" y="4114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ReguGuard turns AML alert triage from a costly bottleneck into an auditable, autonomous workflow — with a human in command of every critical call.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ReguGuard  ·  EPAM Gemini Enterprise Hackathon  ·  Stream 2</a:t>
            </a:r>
            <a:endParaRPr lang="en-US" sz="1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FCCF3F1C-78C2-00B9-FE26-D63634510173}"/>
              </a:ext>
            </a:extLst>
          </p:cNvPr>
          <p:cNvSpPr txBox="1"/>
          <p:nvPr/>
        </p:nvSpPr>
        <p:spPr>
          <a:xfrm>
            <a:off x="1783080" y="1874520"/>
            <a:ext cx="47627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1553</Words>
  <Application>Microsoft Office PowerPoint</Application>
  <PresentationFormat>Custom</PresentationFormat>
  <Paragraphs>214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ReguGuard Team</dc:creator>
  <cp:lastModifiedBy>Rakesh Kumar2</cp:lastModifiedBy>
  <cp:revision>3</cp:revision>
  <dcterms:created xsi:type="dcterms:W3CDTF">2026-08-29T10:05:19Z</dcterms:created>
  <dcterms:modified xsi:type="dcterms:W3CDTF">2026-08-30T14:53:16Z</dcterms:modified>
</cp:coreProperties>
</file>